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strument Serif"/>
      <p:regular r:id="rId201314"/>
    </p:embeddedFont>
    <p:embeddedFont>
      <p:font typeface="Space Grotesk SemiBold"/>
      <p:regular r:id="rId201315"/>
    </p:embeddedFont>
    <p:embeddedFont>
      <p:font typeface="Space Mono"/>
      <p:regular r:id="rId201316"/>
    </p:embeddedFont>
    <p:embeddedFont>
      <p:font typeface="Space Mono Bold"/>
      <p:regular r:id="rId201317"/>
    </p:embeddedFont>
    <p:embeddedFont>
      <p:font typeface="Inter"/>
      <p:regular r:id="rId201318"/>
    </p:embeddedFont>
    <p:embeddedFont>
      <p:font typeface="Inter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6915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461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HEALTHCARE PERFORMANCE SNAPSHOT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2062639"/>
            <a:ext cx="10769331" cy="2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Healthcare performance is balanced</a:t>
            </a:r>
            <a:endParaRPr lang="en-US" sz="6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6200" dirty="0">
                <a:solidFill>
                  <a:srgbClr val="FF4615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with one sharp exception.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711182" y="5583059"/>
            <a:ext cx="1076933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volume, admission mix, outcomes, billing, and payer revenue, the portfolio is remarkably even. The final admissions point is the outlier to validate.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3030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PATIENT VOLUME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Patient volume is nearly even across six conditions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55776"/>
            <a:ext cx="6349841" cy="31765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2327176"/>
            <a:ext cx="3855743" cy="3633788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6" name="Text 3"/>
          <p:cNvSpPr/>
          <p:nvPr/>
        </p:nvSpPr>
        <p:spPr>
          <a:xfrm>
            <a:off x="7954962" y="2834045"/>
            <a:ext cx="362714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TOP TO BOTTOM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54962" y="3172123"/>
            <a:ext cx="3398554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123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7954962" y="4290913"/>
            <a:ext cx="36271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separate Arthritis from Asthma.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54962" y="4688979"/>
            <a:ext cx="1121441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954962" y="4857254"/>
            <a:ext cx="33985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Arthritis at 9,308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Lowest: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Asthma at 9,185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3030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ADMISSION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Admission type is a three-way split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15716"/>
            <a:ext cx="6349841" cy="3049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368" y="1687116"/>
            <a:ext cx="3855743" cy="3748187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9050">
            <a:solidFill>
              <a:srgbClr val="FF5F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4011" y="1940481"/>
            <a:ext cx="36080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GAP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74011" y="2278559"/>
            <a:ext cx="3360455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CC2B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0.7 pp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7974011" y="3397349"/>
            <a:ext cx="336045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largest-to-smallest difference is just 0.7 percentage points.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74011" y="4044255"/>
            <a:ext cx="1108841" cy="38100"/>
          </a:xfrm>
          <a:prstGeom prst="roundRect">
            <a:avLst>
              <a:gd name="adj" fmla="val 49999"/>
            </a:avLst>
          </a:prstGeom>
          <a:solidFill>
            <a:srgbClr val="FF4615"/>
          </a:solidFill>
          <a:ln/>
        </p:spPr>
      </p:sp>
      <p:sp>
        <p:nvSpPr>
          <p:cNvPr id="10" name="Text 7"/>
          <p:cNvSpPr/>
          <p:nvPr/>
        </p:nvSpPr>
        <p:spPr>
          <a:xfrm>
            <a:off x="7974011" y="4231580"/>
            <a:ext cx="3360455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33.6%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Elective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33.5%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Urgent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32.9%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Emergency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3030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 OUTCOMES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Test outcomes are equally mixed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87116"/>
            <a:ext cx="6659694" cy="42593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368" y="2476500"/>
            <a:ext cx="385574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46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~⅓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7726368" y="3196908"/>
            <a:ext cx="3855743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 category dominates.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26368" y="4191794"/>
            <a:ext cx="385574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Abnormal, normal, and inconclusive results each represent about one-third of the mix.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368" y="4838700"/>
            <a:ext cx="1272250" cy="38100"/>
          </a:xfrm>
          <a:prstGeom prst="roundRect">
            <a:avLst>
              <a:gd name="adj" fmla="val 49999"/>
            </a:avLst>
          </a:prstGeom>
          <a:solidFill>
            <a:srgbClr val="FF4615"/>
          </a:solidFill>
          <a:ln/>
        </p:spPr>
      </p:sp>
      <p:sp>
        <p:nvSpPr>
          <p:cNvPr id="9" name="Text 6"/>
          <p:cNvSpPr/>
          <p:nvPr/>
        </p:nvSpPr>
        <p:spPr>
          <a:xfrm>
            <a:off x="7726368" y="5031740"/>
            <a:ext cx="385574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this as a balanced mix, not a single-outcome story.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3030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AVERAGE BILLING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Average billing is clustered within a $644 band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55776"/>
            <a:ext cx="6309262" cy="31093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75936" y="2327176"/>
            <a:ext cx="4206174" cy="3566517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6" name="Text 3"/>
          <p:cNvSpPr/>
          <p:nvPr/>
        </p:nvSpPr>
        <p:spPr>
          <a:xfrm>
            <a:off x="7604530" y="2623602"/>
            <a:ext cx="39775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BAND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04530" y="2961680"/>
            <a:ext cx="3748986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46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$644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7604530" y="4080470"/>
            <a:ext cx="39775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highest to lowest average billing.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04530" y="4478536"/>
            <a:ext cx="1237028" cy="19050"/>
          </a:xfrm>
          <a:prstGeom prst="roundRect">
            <a:avLst>
              <a:gd name="adj" fmla="val 49999"/>
            </a:avLst>
          </a:prstGeom>
          <a:solidFill>
            <a:srgbClr val="FF4615"/>
          </a:solidFill>
          <a:ln/>
        </p:spPr>
      </p:sp>
      <p:sp>
        <p:nvSpPr>
          <p:cNvPr id="10" name="Text 7"/>
          <p:cNvSpPr/>
          <p:nvPr/>
        </p:nvSpPr>
        <p:spPr>
          <a:xfrm>
            <a:off x="7604530" y="4646811"/>
            <a:ext cx="3748986" cy="95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Obesity at $25,806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Lowest: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Cancer at $25,162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Arthritis and Hypertension at $25,497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3030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PAYER REVENUE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Payer revenue is similarly concentrated — and tightly grouped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55776"/>
            <a:ext cx="7010225" cy="2809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76998" y="2327176"/>
            <a:ext cx="3505112" cy="3337421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6" name="Text 3"/>
          <p:cNvSpPr/>
          <p:nvPr/>
        </p:nvSpPr>
        <p:spPr>
          <a:xfrm>
            <a:off x="8305592" y="2561491"/>
            <a:ext cx="32765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FIVE-PROVIDER RANGE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05592" y="2899569"/>
            <a:ext cx="3047924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$8.3M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8305592" y="4018359"/>
            <a:ext cx="304792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the highest and lowest payer revenue.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305592" y="4665266"/>
            <a:ext cx="1005755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305592" y="4833541"/>
            <a:ext cx="30479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Cigna at $287.2M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Lowest: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Aetna at $278.9M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105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461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ONE SHARP EXCEPTION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139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admissions trend is stable until the final data point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2376"/>
            <a:ext cx="7010225" cy="4369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6998" y="2546052"/>
            <a:ext cx="3505112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46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~210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8076998" y="3664843"/>
            <a:ext cx="350511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plotted point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76998" y="4062909"/>
            <a:ext cx="1156663" cy="38100"/>
          </a:xfrm>
          <a:prstGeom prst="roundRect">
            <a:avLst>
              <a:gd name="adj" fmla="val 49999"/>
            </a:avLst>
          </a:prstGeom>
          <a:solidFill>
            <a:srgbClr val="FF4615"/>
          </a:solidFill>
          <a:ln/>
        </p:spPr>
      </p:sp>
      <p:sp>
        <p:nvSpPr>
          <p:cNvPr id="8" name="Text 5"/>
          <p:cNvSpPr/>
          <p:nvPr/>
        </p:nvSpPr>
        <p:spPr>
          <a:xfrm>
            <a:off x="8076998" y="4250234"/>
            <a:ext cx="3505112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late 2021 through spring 2024, monthly admissions generally sit around 780–980.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chart provides no printed point labels, so values are approximate.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before action.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9130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snapshot points to validation, not a portfolio imbalance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09585" y="2067520"/>
            <a:ext cx="5333867" cy="1597422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905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29" y="2351365"/>
            <a:ext cx="48385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Patient volume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57229" y="2919611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across all six conditions.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2067520"/>
            <a:ext cx="5333867" cy="1597422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9050">
            <a:solidFill>
              <a:srgbClr val="FF5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5887" y="2351365"/>
            <a:ext cx="48385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Admissions + tests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95887" y="2919611"/>
            <a:ext cx="48385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 types and test outcomes are balanced across categories.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969742"/>
            <a:ext cx="5333867" cy="1996777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 w="19050">
            <a:solidFill>
              <a:srgbClr val="FF5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229" y="4253587"/>
            <a:ext cx="48385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Billing + payer revenue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57229" y="4821833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Tightly clustered across the portfolio.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3969742"/>
            <a:ext cx="5333867" cy="1996777"/>
          </a:xfrm>
          <a:prstGeom prst="roundRect">
            <a:avLst>
              <a:gd name="adj" fmla="val 3740"/>
            </a:avLst>
          </a:pr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6476838" y="4204057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6838" y="4494193"/>
            <a:ext cx="487667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final admissions point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76838" y="5489079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signal that materially breaks the pattern.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2026-10-16T06:43:33Z</dcterms:created>
  <dcterms:modified xsi:type="dcterms:W3CDTF">2026-10-16T06:43:33Z</dcterms:modified>
</cp:coreProperties>
</file>